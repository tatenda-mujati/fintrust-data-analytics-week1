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B9930A3-DA3B-B9F2-CCA3-F14EC8959DE1}">
          <p14:sldIdLst>
            <p14:sldId id="256"/>
            <p14:sldId id="257"/>
            <p14:sldId id="258"/>
          </p14:sldIdLst>
        </p14:section>
        <p14:section name="Findings" id="{EC8256AD-0956-AD26-8DFF-64409CD8A451}">
          <p14:sldIdLst>
            <p14:sldId id="259"/>
            <p14:sldId id="260"/>
            <p14:sldId id="261"/>
          </p14:sldIdLst>
        </p14:section>
        <p14:section name="Testing" id="{9E33DF18-F82F-4095-500C-438FA38DAD80}">
          <p14:sldIdLst>
            <p14:sldId id="262"/>
            <p14:sldId id="263"/>
            <p14:sldId id="264"/>
          </p14:sldIdLst>
        </p14:section>
        <p14:section name="Wrap-up" id="{0E1B4E48-B162-4F9C-59D0-6B06C2C37DE7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2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2262B"/>
                </a:solidFill>
                <a:latin typeface="+mn-lt"/>
              </a:rPr>
              <a:t>Share of transactions flagged for review, by type (overall: 19.6%)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Flagged for review (%)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9B0-4A3A-B882-85630886192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9B0-4A3A-B882-856308861929}"/>
              </c:ext>
            </c:extLst>
          </c:dPt>
          <c:dPt>
            <c:idx val="2"/>
            <c:invertIfNegative val="0"/>
            <c:bubble3D val="0"/>
            <c:spPr>
              <a:solidFill>
                <a:srgbClr val="0B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9B0-4A3A-B882-856308861929}"/>
              </c:ext>
            </c:extLst>
          </c:dPt>
          <c:dPt>
            <c:idx val="3"/>
            <c:invertIfNegative val="0"/>
            <c:bubble3D val="0"/>
            <c:spPr>
              <a:solidFill>
                <a:srgbClr val="0B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9B0-4A3A-B882-856308861929}"/>
              </c:ext>
            </c:extLst>
          </c:dPt>
          <c:dPt>
            <c:idx val="4"/>
            <c:invertIfNegative val="0"/>
            <c:bubble3D val="0"/>
            <c:spPr>
              <a:solidFill>
                <a:srgbClr val="0B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9B0-4A3A-B882-856308861929}"/>
              </c:ext>
            </c:extLst>
          </c:dPt>
          <c:dPt>
            <c:idx val="5"/>
            <c:invertIfNegative val="0"/>
            <c:bubble3D val="0"/>
            <c:spPr>
              <a:solidFill>
                <a:srgbClr val="0B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9B0-4A3A-B882-85630886192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226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Transfer</c:v>
                </c:pt>
                <c:pt idx="1">
                  <c:v>Cash Withdrawal</c:v>
                </c:pt>
                <c:pt idx="2">
                  <c:v>Deposit</c:v>
                </c:pt>
                <c:pt idx="3">
                  <c:v>Airtime/Data</c:v>
                </c:pt>
                <c:pt idx="4">
                  <c:v>Card Purchase</c:v>
                </c:pt>
                <c:pt idx="5">
                  <c:v>Bill Payment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28.5</c:v>
                </c:pt>
                <c:pt idx="1">
                  <c:v>25.3</c:v>
                </c:pt>
                <c:pt idx="2">
                  <c:v>16.2</c:v>
                </c:pt>
                <c:pt idx="3">
                  <c:v>15.2</c:v>
                </c:pt>
                <c:pt idx="4">
                  <c:v>13</c:v>
                </c:pt>
                <c:pt idx="5">
                  <c:v>12.8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9B0-4A3A-B882-8563088619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4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2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2262B"/>
                </a:solidFill>
                <a:latin typeface="+mn-lt"/>
              </a:rPr>
              <a:t>Share of total value by transaction decile (1 = the biggest 10%)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total value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FF2-4C88-8D7D-609BFFD11BD7}"/>
              </c:ext>
            </c:extLst>
          </c:dPt>
          <c:dPt>
            <c:idx val="1"/>
            <c:invertIfNegative val="0"/>
            <c:bubble3D val="0"/>
            <c:spPr>
              <a:solidFill>
                <a:srgbClr val="0B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FF2-4C88-8D7D-609BFFD11BD7}"/>
              </c:ext>
            </c:extLst>
          </c:dPt>
          <c:dPt>
            <c:idx val="2"/>
            <c:invertIfNegative val="0"/>
            <c:bubble3D val="0"/>
            <c:spPr>
              <a:solidFill>
                <a:srgbClr val="0B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FF2-4C88-8D7D-609BFFD11BD7}"/>
              </c:ext>
            </c:extLst>
          </c:dPt>
          <c:dPt>
            <c:idx val="3"/>
            <c:invertIfNegative val="0"/>
            <c:bubble3D val="0"/>
            <c:spPr>
              <a:solidFill>
                <a:srgbClr val="0B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FF2-4C88-8D7D-609BFFD11BD7}"/>
              </c:ext>
            </c:extLst>
          </c:dPt>
          <c:dPt>
            <c:idx val="4"/>
            <c:invertIfNegative val="0"/>
            <c:bubble3D val="0"/>
            <c:spPr>
              <a:solidFill>
                <a:srgbClr val="0B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FF2-4C88-8D7D-609BFFD11BD7}"/>
              </c:ext>
            </c:extLst>
          </c:dPt>
          <c:dPt>
            <c:idx val="5"/>
            <c:invertIfNegative val="0"/>
            <c:bubble3D val="0"/>
            <c:spPr>
              <a:solidFill>
                <a:srgbClr val="0B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FF2-4C88-8D7D-609BFFD11BD7}"/>
              </c:ext>
            </c:extLst>
          </c:dPt>
          <c:dPt>
            <c:idx val="6"/>
            <c:invertIfNegative val="0"/>
            <c:bubble3D val="0"/>
            <c:spPr>
              <a:solidFill>
                <a:srgbClr val="0B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FF2-4C88-8D7D-609BFFD11BD7}"/>
              </c:ext>
            </c:extLst>
          </c:dPt>
          <c:dPt>
            <c:idx val="7"/>
            <c:invertIfNegative val="0"/>
            <c:bubble3D val="0"/>
            <c:spPr>
              <a:solidFill>
                <a:srgbClr val="0B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FF2-4C88-8D7D-609BFFD11BD7}"/>
              </c:ext>
            </c:extLst>
          </c:dPt>
          <c:dPt>
            <c:idx val="8"/>
            <c:invertIfNegative val="0"/>
            <c:bubble3D val="0"/>
            <c:spPr>
              <a:solidFill>
                <a:srgbClr val="0B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FF2-4C88-8D7D-609BFFD11BD7}"/>
              </c:ext>
            </c:extLst>
          </c:dPt>
          <c:dPt>
            <c:idx val="9"/>
            <c:invertIfNegative val="0"/>
            <c:bubble3D val="0"/>
            <c:spPr>
              <a:solidFill>
                <a:srgbClr val="0B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FF2-4C88-8D7D-609BFFD11BD7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226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56.2</c:v>
                </c:pt>
                <c:pt idx="1">
                  <c:v>21.3</c:v>
                </c:pt>
                <c:pt idx="2">
                  <c:v>10.6</c:v>
                </c:pt>
                <c:pt idx="3">
                  <c:v>5.6</c:v>
                </c:pt>
                <c:pt idx="4">
                  <c:v>3</c:v>
                </c:pt>
                <c:pt idx="5">
                  <c:v>1.7</c:v>
                </c:pt>
                <c:pt idx="6">
                  <c:v>0.9</c:v>
                </c:pt>
                <c:pt idx="7">
                  <c:v>0.5</c:v>
                </c:pt>
                <c:pt idx="8">
                  <c:v>0.3</c:v>
                </c:pt>
                <c:pt idx="9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FF2-4C88-8D7D-609BFFD11B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2B"/>
                </a:solidFill>
                <a:latin typeface="+mn-lt"/>
              </a:defRPr>
            </a:pPr>
            <a:r>
              <a:rPr lang="en-ZW" sz="1300" b="0" i="0" u="none" strike="noStrike">
                <a:solidFill>
                  <a:srgbClr val="12262B"/>
                </a:solidFill>
                <a:latin typeface="+mn-lt"/>
              </a:rPr>
              <a:t>Raw monthly value (₦m)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</c:v>
                </c:pt>
              </c:strCache>
            </c:strRef>
          </c:tx>
          <c:spPr>
            <a:solidFill>
              <a:srgbClr val="7A8C93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226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188.5</c:v>
                </c:pt>
                <c:pt idx="1">
                  <c:v>175.8</c:v>
                </c:pt>
                <c:pt idx="2">
                  <c:v>196.2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C-4BD9-B8D1-AF9CED28C0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3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2B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2262B"/>
                </a:solidFill>
                <a:latin typeface="+mn-lt"/>
              </a:rPr>
              <a:t>Value per active day (₦m)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day</c:v>
                </c:pt>
              </c:strCache>
            </c:strRef>
          </c:tx>
          <c:spPr>
            <a:solidFill>
              <a:srgbClr val="0B7A8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226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6.08</c:v>
                </c:pt>
                <c:pt idx="1">
                  <c:v>6.28</c:v>
                </c:pt>
                <c:pt idx="2">
                  <c:v>6.33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82-413A-88CE-319785C05E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2B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2262B"/>
                </a:solidFill>
                <a:latin typeface="+mn-lt"/>
              </a:rPr>
              <a:t>Lagos is where customers live, not where transactions are recorded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customers (home city)</c:v>
                </c:pt>
              </c:strCache>
            </c:strRef>
          </c:tx>
          <c:spPr>
            <a:solidFill>
              <a:srgbClr val="0B7A8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26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Lagos</c:v>
                </c:pt>
                <c:pt idx="1">
                  <c:v>Abuja</c:v>
                </c:pt>
                <c:pt idx="2">
                  <c:v>Port Harcourt</c:v>
                </c:pt>
                <c:pt idx="3">
                  <c:v>Kano</c:v>
                </c:pt>
                <c:pt idx="4">
                  <c:v>Ibadan</c:v>
                </c:pt>
                <c:pt idx="5">
                  <c:v>Enugu</c:v>
                </c:pt>
                <c:pt idx="6">
                  <c:v>Kaduna</c:v>
                </c:pt>
                <c:pt idx="7">
                  <c:v>Benin City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32.5</c:v>
                </c:pt>
                <c:pt idx="1">
                  <c:v>14.9</c:v>
                </c:pt>
                <c:pt idx="2">
                  <c:v>11.5</c:v>
                </c:pt>
                <c:pt idx="3">
                  <c:v>10.6</c:v>
                </c:pt>
                <c:pt idx="4">
                  <c:v>9.9</c:v>
                </c:pt>
                <c:pt idx="5">
                  <c:v>7.2</c:v>
                </c:pt>
                <c:pt idx="6">
                  <c:v>6.9</c:v>
                </c:pt>
                <c:pt idx="7">
                  <c:v>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14-4181-ACD4-3E0EB88119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value by transaction location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26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Lagos</c:v>
                </c:pt>
                <c:pt idx="1">
                  <c:v>Abuja</c:v>
                </c:pt>
                <c:pt idx="2">
                  <c:v>Port Harcourt</c:v>
                </c:pt>
                <c:pt idx="3">
                  <c:v>Kano</c:v>
                </c:pt>
                <c:pt idx="4">
                  <c:v>Ibadan</c:v>
                </c:pt>
                <c:pt idx="5">
                  <c:v>Enugu</c:v>
                </c:pt>
                <c:pt idx="6">
                  <c:v>Kaduna</c:v>
                </c:pt>
                <c:pt idx="7">
                  <c:v>Benin City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11.5</c:v>
                </c:pt>
                <c:pt idx="1">
                  <c:v>11.2</c:v>
                </c:pt>
                <c:pt idx="2">
                  <c:v>12.8</c:v>
                </c:pt>
                <c:pt idx="3">
                  <c:v>13.4</c:v>
                </c:pt>
                <c:pt idx="4">
                  <c:v>14.6</c:v>
                </c:pt>
                <c:pt idx="5">
                  <c:v>12.4</c:v>
                </c:pt>
                <c:pt idx="6">
                  <c:v>12.7</c:v>
                </c:pt>
                <c:pt idx="7">
                  <c:v>11.4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14-4181-ACD4-3E0EB88119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226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667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Hi, I'm [your name]. This is my final project for the FinTrust internship with AnalystLab Africa. Fair warning: the most interesting part of my project is where I found out I was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FinTrust has thousands of transactions but nobody can easily see what's going on in them. My job was to turn that data into something a manager could actually use. Everything is synthetic data, and the risk flag is just a training label, not real fraud.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 started by checking the data in Excel, then used SQL to ask business questions. Python was where I tested whether my answers were actually true, and I finished with a Power BI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(share your screen): This is the dashboard I built. These cards give the headline numbers. If I click a channel, everything updates. Getting it working took a few tries. My percentages showed as decimals until I learned to format the measure itself, not the chart. I also hit a field-well error on one chart. Annoying at the time, but I understand how Power BI works much better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Some findings survived every test I threw at them. Risk review is clearly concentrated in transfers and cash withdrawals, and international transactions are flagged about twice as often. I even checked that this holds inside every transaction type, so it isn't a coincidence.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other one that surprised me: just 10% of transactions carry more than half the money. If you're deciding where to focus attention, that's a big deal.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In the last two weeks I stopped adding new analysis and went back to check my old claims properly. Five held up. Five didn't. That wasn't comfortable, but it's the whole point of validating your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February dip looked real on my chart. But when I divided by the number of days, volume was identical and value was slightly higher. It was just a shorter month. I also found three percentages I'd worked out wrong in my own write-ups. I fixed them and wrote down what changed instead of hiding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Then I changed the dashboard to match what the data actually says. One example: Lagos looked dominant, but that was where customers live, not where transactions happen. They turned out to be completely different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On the bigger FinTrust picture, I'll be honest. I supplied the cleaned data and the validated findings. I didn't receive anything from other tracks, so I'm not going to pretend I integrated with them. What I can say is that transaction type, international status and large amounts relate to the flag, and things like segment and city don't.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limits: the data is fake and unusually even, so I can't say anything real about seasons or time of day. And I can show how often transactions fail, but not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Three things I'm taking away. A good-looking chart isn't a finding until you've tried to break it. Compare things fairly. And never copy a number by hand. Thank you for watching, and thanks to AnalystLab Africa for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73152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.png"/><Relationship Id="rId5" Type="http://schemas.openxmlformats.org/officeDocument/2006/relationships/chart" Target="../charts/char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.png"/><Relationship Id="rId5" Type="http://schemas.openxmlformats.org/officeDocument/2006/relationships/chart" Target="../charts/char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1.png"/><Relationship Id="rId5" Type="http://schemas.openxmlformats.org/officeDocument/2006/relationships/chart" Target="../charts/chart5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7315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What I learned from testing my own analysis</a:t>
            </a:r>
            <a:endParaRPr lang="en-US" sz="4400" dirty="0"/>
          </a:p>
        </p:txBody>
      </p:sp>
      <p:sp>
        <p:nvSpPr>
          <p:cNvPr id="4" name="Subtitle"/>
          <p:cNvSpPr txBox="1"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2"/>
                </a:solidFill>
              </a:rPr>
              <a:t>FinTrust Digital Bank  ·  Data Analytics track</a:t>
            </a:r>
            <a:endParaRPr lang="en-US" sz="2200" dirty="0"/>
          </a:p>
        </p:txBody>
      </p:sp>
      <p:sp>
        <p:nvSpPr>
          <p:cNvPr id="5" name="Presenter"/>
          <p:cNvSpPr txBox="1"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[Tatenda Farai </a:t>
            </a:r>
            <a:r>
              <a:rPr lang="en-US" sz="1600" dirty="0" err="1">
                <a:solidFill>
                  <a:schemeClr val="accent3"/>
                </a:solidFill>
              </a:rPr>
              <a:t>Mujati</a:t>
            </a:r>
            <a:r>
              <a:rPr lang="en-US" sz="1600" dirty="0">
                <a:solidFill>
                  <a:schemeClr val="accent3"/>
                </a:solidFill>
              </a:rPr>
              <a:t> ·  AnalystLab Africa Experience Lab</a:t>
            </a:r>
            <a:endParaRPr lang="en-US" sz="1600" dirty="0"/>
          </a:p>
        </p:txBody>
      </p:sp>
      <p:sp>
        <p:nvSpPr>
          <p:cNvPr id="6" name="Decor circle large"/>
          <p:cNvSpPr/>
          <p:nvPr/>
        </p:nvSpPr>
        <p:spPr>
          <a:xfrm>
            <a:off x="8778240" y="3383280"/>
            <a:ext cx="4754880" cy="4754880"/>
          </a:xfrm>
          <a:prstGeom prst="ellipse">
            <a:avLst/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7" name="Decor circle small"/>
          <p:cNvSpPr/>
          <p:nvPr/>
        </p:nvSpPr>
        <p:spPr>
          <a:xfrm>
            <a:off x="10241280" y="914400"/>
            <a:ext cx="1463040" cy="1463040"/>
          </a:xfrm>
          <a:prstGeom prst="ellipse">
            <a:avLst/>
          </a:prstGeom>
          <a:solidFill>
            <a:schemeClr val="accent4">
              <a:alpha val="75000"/>
            </a:schemeClr>
          </a:solidFill>
          <a:ln/>
        </p:spPr>
      </p:sp>
      <p:sp>
        <p:nvSpPr>
          <p:cNvPr id="8" name="Footnote"/>
          <p:cNvSpPr txBox="1"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Synthetic data, built for learning. Nothing here is real banking data.</a:t>
            </a:r>
            <a:endParaRPr lang="en-US" sz="1200" dirty="0"/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8C89D322-2624-EB45-EB8E-68B6044A16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5000" t="-160938" r="-325000" b="-160938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420"/>
    </mc:Choice>
    <mc:Fallback>
      <p:transition spd="slow" advTm="304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The problem: lots of data, no clear picture</a:t>
            </a:r>
            <a:endParaRPr lang="en-US" sz="3400" dirty="0"/>
          </a:p>
        </p:txBody>
      </p:sp>
      <p:sp>
        <p:nvSpPr>
          <p:cNvPr id="4" name="Problem statement"/>
          <p:cNvSpPr txBox="1"/>
          <p:nvPr/>
        </p:nvSpPr>
        <p:spPr>
          <a:xfrm>
            <a:off x="548640" y="164592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FinTrust is a fictional digital bank. It has thousands of transactions, but nobody can easily see what is in them.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My job was to turn that data into something a manager could actually use.</a:t>
            </a:r>
            <a:endParaRPr lang="en-US" sz="2000" dirty="0"/>
          </a:p>
        </p:txBody>
      </p:sp>
      <p:sp>
        <p:nvSpPr>
          <p:cNvPr id="5" name="Data note"/>
          <p:cNvSpPr txBox="1"/>
          <p:nvPr/>
        </p:nvSpPr>
        <p:spPr>
          <a:xfrm>
            <a:off x="548640" y="4846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All data is synthetic, and the risk-review flag is a training label, not a fraud finding.</a:t>
            </a:r>
            <a:endParaRPr lang="en-US" sz="1400" dirty="0"/>
          </a:p>
        </p:txBody>
      </p:sp>
      <p:sp>
        <p:nvSpPr>
          <p:cNvPr id="6" name="Question card 1"/>
          <p:cNvSpPr/>
          <p:nvPr/>
        </p:nvSpPr>
        <p:spPr>
          <a:xfrm>
            <a:off x="6217920" y="164592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7" name="Question number 1"/>
          <p:cNvSpPr txBox="1"/>
          <p:nvPr/>
        </p:nvSpPr>
        <p:spPr>
          <a:xfrm>
            <a:off x="6492240" y="1810512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8" name="Question text 1"/>
          <p:cNvSpPr txBox="1"/>
          <p:nvPr/>
        </p:nvSpPr>
        <p:spPr>
          <a:xfrm>
            <a:off x="7406640" y="1828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Where should risk review focus?</a:t>
            </a:r>
            <a:endParaRPr lang="en-US" sz="2200" dirty="0"/>
          </a:p>
        </p:txBody>
      </p:sp>
      <p:sp>
        <p:nvSpPr>
          <p:cNvPr id="9" name="Question card 2"/>
          <p:cNvSpPr/>
          <p:nvPr/>
        </p:nvSpPr>
        <p:spPr>
          <a:xfrm>
            <a:off x="6217920" y="310896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0" name="Question number 2"/>
          <p:cNvSpPr txBox="1"/>
          <p:nvPr/>
        </p:nvSpPr>
        <p:spPr>
          <a:xfrm>
            <a:off x="6492240" y="3273552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1" name="Question text 2"/>
          <p:cNvSpPr txBox="1"/>
          <p:nvPr/>
        </p:nvSpPr>
        <p:spPr>
          <a:xfrm>
            <a:off x="7406640" y="32918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How reliable is the platform?</a:t>
            </a:r>
            <a:endParaRPr lang="en-US" sz="2200" dirty="0"/>
          </a:p>
        </p:txBody>
      </p:sp>
      <p:sp>
        <p:nvSpPr>
          <p:cNvPr id="12" name="Question card 3"/>
          <p:cNvSpPr/>
          <p:nvPr/>
        </p:nvSpPr>
        <p:spPr>
          <a:xfrm>
            <a:off x="6217920" y="457200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3" name="Question number 3"/>
          <p:cNvSpPr txBox="1"/>
          <p:nvPr/>
        </p:nvSpPr>
        <p:spPr>
          <a:xfrm>
            <a:off x="6492240" y="4736592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4" name="Question text 3"/>
          <p:cNvSpPr txBox="1"/>
          <p:nvPr/>
        </p:nvSpPr>
        <p:spPr>
          <a:xfrm>
            <a:off x="7406640" y="4754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Who are our customers, really?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E4F6C846-BFD7-406E-FA8C-343CCEC586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5000" t="-160938" r="-325000" b="-160938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757"/>
    </mc:Choice>
    <mc:Fallback>
      <p:transition spd="slow" advTm="387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 actually did</a:t>
            </a:r>
            <a:endParaRPr lang="en-US" sz="3400" dirty="0"/>
          </a:p>
        </p:txBody>
      </p:sp>
      <p:sp>
        <p:nvSpPr>
          <p:cNvPr id="4" name="Stat customers"/>
          <p:cNvSpPr txBox="1"/>
          <p:nvPr/>
        </p:nvSpPr>
        <p:spPr>
          <a:xfrm>
            <a:off x="548640" y="15544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7200" dirty="0"/>
          </a:p>
        </p:txBody>
      </p:sp>
      <p:sp>
        <p:nvSpPr>
          <p:cNvPr id="5" name="Stat customers label"/>
          <p:cNvSpPr txBox="1"/>
          <p:nvPr/>
        </p:nvSpPr>
        <p:spPr>
          <a:xfrm>
            <a:off x="548640" y="2697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customers</a:t>
            </a:r>
            <a:endParaRPr lang="en-US" sz="1800" dirty="0"/>
          </a:p>
        </p:txBody>
      </p:sp>
      <p:sp>
        <p:nvSpPr>
          <p:cNvPr id="6" name="Stat transactions"/>
          <p:cNvSpPr txBox="1"/>
          <p:nvPr/>
        </p:nvSpPr>
        <p:spPr>
          <a:xfrm>
            <a:off x="548640" y="34747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</a:t>
            </a:r>
            <a:endParaRPr lang="en-US" sz="7200" dirty="0"/>
          </a:p>
        </p:txBody>
      </p:sp>
      <p:sp>
        <p:nvSpPr>
          <p:cNvPr id="7" name="Stat transactions label"/>
          <p:cNvSpPr txBox="1"/>
          <p:nvPr/>
        </p:nvSpPr>
        <p:spPr>
          <a:xfrm>
            <a:off x="54864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transactions, January to March 2026</a:t>
            </a:r>
            <a:endParaRPr lang="en-US" sz="1800" dirty="0"/>
          </a:p>
        </p:txBody>
      </p:sp>
      <p:sp>
        <p:nvSpPr>
          <p:cNvPr id="8" name="Tool Excel"/>
          <p:cNvSpPr txBox="1"/>
          <p:nvPr/>
        </p:nvSpPr>
        <p:spPr>
          <a:xfrm>
            <a:off x="5852160" y="1600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Excel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Checked and cleaned the data (96 blank cells, no duplicates)</a:t>
            </a:r>
            <a:endParaRPr lang="en-US" sz="2200" dirty="0"/>
          </a:p>
        </p:txBody>
      </p:sp>
      <p:sp>
        <p:nvSpPr>
          <p:cNvPr id="9" name="Tool SQL"/>
          <p:cNvSpPr txBox="1"/>
          <p:nvPr/>
        </p:nvSpPr>
        <p:spPr>
          <a:xfrm>
            <a:off x="585216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SQL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Nine final queries: joins, CTEs, window functions</a:t>
            </a:r>
            <a:endParaRPr lang="en-US" sz="2200" dirty="0"/>
          </a:p>
        </p:txBody>
      </p:sp>
      <p:sp>
        <p:nvSpPr>
          <p:cNvPr id="10" name="Tool Python"/>
          <p:cNvSpPr txBox="1"/>
          <p:nvPr/>
        </p:nvSpPr>
        <p:spPr>
          <a:xfrm>
            <a:off x="5852160" y="37947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Python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Re-tested every finding and made the charts</a:t>
            </a:r>
            <a:endParaRPr lang="en-US" sz="2200" dirty="0"/>
          </a:p>
        </p:txBody>
      </p:sp>
      <p:sp>
        <p:nvSpPr>
          <p:cNvPr id="11" name="Tool Power BI"/>
          <p:cNvSpPr txBox="1"/>
          <p:nvPr/>
        </p:nvSpPr>
        <p:spPr>
          <a:xfrm>
            <a:off x="5852160" y="48920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Power BI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Built the dashboard a manager can click through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94CAB3A6-92D5-BA27-D4E7-1487EDB168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5000" t="-160938" r="-325000" b="-160938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778"/>
    </mc:Choice>
    <mc:Fallback>
      <p:transition spd="slow" advTm="367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The dashboard </a:t>
            </a:r>
            <a:endParaRPr lang="en-US" sz="3400" dirty="0"/>
          </a:p>
        </p:txBody>
      </p:sp>
      <p:sp>
        <p:nvSpPr>
          <p:cNvPr id="4" name="KPI card 1"/>
          <p:cNvSpPr/>
          <p:nvPr/>
        </p:nvSpPr>
        <p:spPr>
          <a:xfrm>
            <a:off x="548640" y="1554480"/>
            <a:ext cx="28803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5" name="KPI value 1"/>
          <p:cNvSpPr txBox="1"/>
          <p:nvPr/>
        </p:nvSpPr>
        <p:spPr>
          <a:xfrm>
            <a:off x="777240" y="1783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₦560.5m</a:t>
            </a:r>
            <a:endParaRPr lang="en-US" sz="3600" dirty="0"/>
          </a:p>
        </p:txBody>
      </p:sp>
      <p:sp>
        <p:nvSpPr>
          <p:cNvPr id="6" name="KPI label 1"/>
          <p:cNvSpPr txBox="1"/>
          <p:nvPr/>
        </p:nvSpPr>
        <p:spPr>
          <a:xfrm>
            <a:off x="77724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total value</a:t>
            </a:r>
            <a:endParaRPr lang="en-US" sz="1500" dirty="0"/>
          </a:p>
        </p:txBody>
      </p:sp>
      <p:sp>
        <p:nvSpPr>
          <p:cNvPr id="7" name="KPI card 2"/>
          <p:cNvSpPr/>
          <p:nvPr/>
        </p:nvSpPr>
        <p:spPr>
          <a:xfrm>
            <a:off x="3611880" y="1554480"/>
            <a:ext cx="28803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8" name="KPI value 2"/>
          <p:cNvSpPr txBox="1"/>
          <p:nvPr/>
        </p:nvSpPr>
        <p:spPr>
          <a:xfrm>
            <a:off x="3840480" y="1783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90.47%</a:t>
            </a:r>
            <a:endParaRPr lang="en-US" sz="3600" dirty="0"/>
          </a:p>
        </p:txBody>
      </p:sp>
      <p:sp>
        <p:nvSpPr>
          <p:cNvPr id="9" name="KPI label 2"/>
          <p:cNvSpPr txBox="1"/>
          <p:nvPr/>
        </p:nvSpPr>
        <p:spPr>
          <a:xfrm>
            <a:off x="384048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success rate</a:t>
            </a:r>
            <a:endParaRPr lang="en-US" sz="1500" dirty="0"/>
          </a:p>
        </p:txBody>
      </p:sp>
      <p:sp>
        <p:nvSpPr>
          <p:cNvPr id="10" name="KPI card 3"/>
          <p:cNvSpPr/>
          <p:nvPr/>
        </p:nvSpPr>
        <p:spPr>
          <a:xfrm>
            <a:off x="548640" y="3474720"/>
            <a:ext cx="28803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1" name="KPI value 3"/>
          <p:cNvSpPr txBox="1"/>
          <p:nvPr/>
        </p:nvSpPr>
        <p:spPr>
          <a:xfrm>
            <a:off x="777240" y="3703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19.6%</a:t>
            </a:r>
            <a:endParaRPr lang="en-US" sz="3600" dirty="0"/>
          </a:p>
        </p:txBody>
      </p:sp>
      <p:sp>
        <p:nvSpPr>
          <p:cNvPr id="12" name="KPI label 3"/>
          <p:cNvSpPr txBox="1"/>
          <p:nvPr/>
        </p:nvSpPr>
        <p:spPr>
          <a:xfrm>
            <a:off x="777240" y="4572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flagged for review</a:t>
            </a:r>
            <a:endParaRPr lang="en-US" sz="1500" dirty="0"/>
          </a:p>
        </p:txBody>
      </p:sp>
      <p:sp>
        <p:nvSpPr>
          <p:cNvPr id="13" name="KPI card 4"/>
          <p:cNvSpPr/>
          <p:nvPr/>
        </p:nvSpPr>
        <p:spPr>
          <a:xfrm>
            <a:off x="3611880" y="3474720"/>
            <a:ext cx="28803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4" name="KPI value 4"/>
          <p:cNvSpPr txBox="1"/>
          <p:nvPr/>
        </p:nvSpPr>
        <p:spPr>
          <a:xfrm>
            <a:off x="3840480" y="3703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₦6.2m</a:t>
            </a:r>
            <a:endParaRPr lang="en-US" sz="3600" dirty="0"/>
          </a:p>
        </p:txBody>
      </p:sp>
      <p:sp>
        <p:nvSpPr>
          <p:cNvPr id="15" name="KPI label 4"/>
          <p:cNvSpPr txBox="1"/>
          <p:nvPr/>
        </p:nvSpPr>
        <p:spPr>
          <a:xfrm>
            <a:off x="3840480" y="4572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value per day</a:t>
            </a:r>
            <a:endParaRPr lang="en-US" sz="1500" dirty="0"/>
          </a:p>
        </p:txBody>
      </p:sp>
      <p:sp>
        <p:nvSpPr>
          <p:cNvPr id="18" name="Demo note"/>
          <p:cNvSpPr txBox="1"/>
          <p:nvPr/>
        </p:nvSpPr>
        <p:spPr>
          <a:xfrm>
            <a:off x="7132320" y="5257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8AC602CD-BB8D-ED39-F595-E62500993C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5000" t="-160938" r="-325000" b="-160938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320"/>
    </mc:Choice>
    <mc:Fallback>
      <p:transition spd="slow" advTm="533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Where risk review concentrates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6751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Intl stat"/>
          <p:cNvSpPr txBox="1"/>
          <p:nvPr/>
        </p:nvSpPr>
        <p:spPr>
          <a:xfrm>
            <a:off x="7680960" y="16002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36.9% vs 18.9%</a:t>
            </a:r>
            <a:endParaRPr lang="en-US" sz="4000" dirty="0"/>
          </a:p>
        </p:txBody>
      </p:sp>
      <p:sp>
        <p:nvSpPr>
          <p:cNvPr id="6" name="Intl caption"/>
          <p:cNvSpPr txBox="1"/>
          <p:nvPr/>
        </p:nvSpPr>
        <p:spPr>
          <a:xfrm>
            <a:off x="7680960" y="25146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International vs domestic flag rate. It holds inside every transaction type, so it is not just a mix effect.</a:t>
            </a:r>
            <a:endParaRPr lang="en-US" sz="1700" dirty="0"/>
          </a:p>
        </p:txBody>
      </p:sp>
      <p:sp>
        <p:nvSpPr>
          <p:cNvPr id="7" name="So-what card"/>
          <p:cNvSpPr/>
          <p:nvPr/>
        </p:nvSpPr>
        <p:spPr>
          <a:xfrm>
            <a:off x="7680960" y="429768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8" name="So-what text"/>
          <p:cNvSpPr txBox="1"/>
          <p:nvPr/>
        </p:nvSpPr>
        <p:spPr>
          <a:xfrm>
            <a:off x="7909560" y="4480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So what? Look at transfers, cash withdrawals and international activity first.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8F8B89C0-2259-B6DC-7149-15971F3EDA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5000" t="-160938" r="-325000" b="-160938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206"/>
    </mc:Choice>
    <mc:Fallback>
      <p:transition spd="slow" advTm="542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Ten percent of transactions, over half the money</a:t>
            </a:r>
            <a:endParaRPr lang="en-US" sz="3400" dirty="0"/>
          </a:p>
        </p:txBody>
      </p:sp>
      <p:sp>
        <p:nvSpPr>
          <p:cNvPr id="4" name="Big stat"/>
          <p:cNvSpPr txBox="1"/>
          <p:nvPr/>
        </p:nvSpPr>
        <p:spPr>
          <a:xfrm>
            <a:off x="548640" y="13716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11000" dirty="0"/>
          </a:p>
        </p:txBody>
      </p:sp>
      <p:sp>
        <p:nvSpPr>
          <p:cNvPr id="5" name="Big stat caption"/>
          <p:cNvSpPr txBox="1"/>
          <p:nvPr/>
        </p:nvSpPr>
        <p:spPr>
          <a:xfrm>
            <a:off x="548640" y="3154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of all transaction value sits in the top 10% of transactions.</a:t>
            </a:r>
            <a:endParaRPr lang="en-US" sz="2000" dirty="0"/>
          </a:p>
        </p:txBody>
      </p:sp>
      <p:sp>
        <p:nvSpPr>
          <p:cNvPr id="6" name="Supporting points"/>
          <p:cNvSpPr txBox="1"/>
          <p:nvPr/>
        </p:nvSpPr>
        <p:spPr>
          <a:xfrm>
            <a:off x="548640" y="42062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bottom half of transactions carries just 3.4% of the value.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Above about ₦68,000, transactions are also flagged most: 26.8% vs 17.8%.</a:t>
            </a:r>
            <a:endParaRPr lang="en-US" sz="1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943600" y="1417320"/>
          <a:ext cx="57607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87E9DF71-0720-C17F-2E51-7428AC6103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5000" t="-160938" r="-325000" b="-160938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590"/>
    </mc:Choice>
    <mc:Fallback>
      <p:transition spd="slow" advTm="595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Then I tested my own findings</a:t>
            </a:r>
            <a:endParaRPr lang="en-US" sz="3400" dirty="0"/>
          </a:p>
        </p:txBody>
      </p:sp>
      <p:sp>
        <p:nvSpPr>
          <p:cNvPr id="4" name="Intro text"/>
          <p:cNvSpPr txBox="1"/>
          <p:nvPr/>
        </p:nvSpPr>
        <p:spPr>
          <a:xfrm>
            <a:off x="548640" y="164592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In the last two weeks I stopped adding new analysis and went back to prove the claims I had already made. Ten findings, each re-tested with a proper statistical check.</a:t>
            </a:r>
            <a:endParaRPr lang="en-US" sz="2000" dirty="0"/>
          </a:p>
        </p:txBody>
      </p:sp>
      <p:sp>
        <p:nvSpPr>
          <p:cNvPr id="5" name="Aside"/>
          <p:cNvSpPr txBox="1"/>
          <p:nvPr/>
        </p:nvSpPr>
        <p:spPr>
          <a:xfrm>
            <a:off x="548640" y="44805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Not comfortable. Very useful.</a:t>
            </a:r>
            <a:endParaRPr lang="en-US" sz="1800" dirty="0"/>
          </a:p>
        </p:txBody>
      </p:sp>
      <p:sp>
        <p:nvSpPr>
          <p:cNvPr id="6" name="Panel held up"/>
          <p:cNvSpPr/>
          <p:nvPr/>
        </p:nvSpPr>
        <p:spPr>
          <a:xfrm>
            <a:off x="5486400" y="1645920"/>
            <a:ext cx="3017520" cy="420624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/>
        </p:spPr>
      </p:sp>
      <p:sp>
        <p:nvSpPr>
          <p:cNvPr id="7" name="Panel number 1"/>
          <p:cNvSpPr txBox="1"/>
          <p:nvPr/>
        </p:nvSpPr>
        <p:spPr>
          <a:xfrm>
            <a:off x="5760720" y="18288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600" dirty="0"/>
          </a:p>
        </p:txBody>
      </p:sp>
      <p:sp>
        <p:nvSpPr>
          <p:cNvPr id="8" name="Panel label 1"/>
          <p:cNvSpPr txBox="1"/>
          <p:nvPr/>
        </p:nvSpPr>
        <p:spPr>
          <a:xfrm>
            <a:off x="576072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held up</a:t>
            </a:r>
            <a:endParaRPr lang="en-US" sz="2600" dirty="0"/>
          </a:p>
        </p:txBody>
      </p:sp>
      <p:sp>
        <p:nvSpPr>
          <p:cNvPr id="9" name="Panel detail 1"/>
          <p:cNvSpPr txBox="1"/>
          <p:nvPr/>
        </p:nvSpPr>
        <p:spPr>
          <a:xfrm>
            <a:off x="5760720" y="40233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Transaction type, international risk, value concentration, geography, segment value</a:t>
            </a:r>
            <a:endParaRPr lang="en-US" sz="1400" dirty="0"/>
          </a:p>
        </p:txBody>
      </p:sp>
      <p:sp>
        <p:nvSpPr>
          <p:cNvPr id="10" name="Panel didn’t"/>
          <p:cNvSpPr/>
          <p:nvPr/>
        </p:nvSpPr>
        <p:spPr>
          <a:xfrm>
            <a:off x="8686800" y="1645920"/>
            <a:ext cx="3017520" cy="420624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/>
        </p:spPr>
      </p:sp>
      <p:sp>
        <p:nvSpPr>
          <p:cNvPr id="11" name="Panel number 2"/>
          <p:cNvSpPr txBox="1"/>
          <p:nvPr/>
        </p:nvSpPr>
        <p:spPr>
          <a:xfrm>
            <a:off x="8961120" y="18288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600" dirty="0"/>
          </a:p>
        </p:txBody>
      </p:sp>
      <p:sp>
        <p:nvSpPr>
          <p:cNvPr id="12" name="Panel label 2"/>
          <p:cNvSpPr txBox="1"/>
          <p:nvPr/>
        </p:nvSpPr>
        <p:spPr>
          <a:xfrm>
            <a:off x="896112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didn’t</a:t>
            </a:r>
            <a:endParaRPr lang="en-US" sz="2600" dirty="0"/>
          </a:p>
        </p:txBody>
      </p:sp>
      <p:sp>
        <p:nvSpPr>
          <p:cNvPr id="13" name="Panel detail 2"/>
          <p:cNvSpPr txBox="1"/>
          <p:nvPr/>
        </p:nvSpPr>
        <p:spPr>
          <a:xfrm>
            <a:off x="8961120" y="40233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February dip, narrowing gap, USSD average, Web failures, segment risk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D7994CDF-1B1D-0280-28F6-38862F334A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5000" t="-160938" r="-325000" b="-160938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176"/>
    </mc:Choice>
    <mc:Fallback>
      <p:transition spd="slow" advTm="281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 got wrong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3108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3840480" y="1463040"/>
          <a:ext cx="3108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" name="Chart caption"/>
          <p:cNvSpPr txBox="1"/>
          <p:nvPr/>
        </p:nvSpPr>
        <p:spPr>
          <a:xfrm>
            <a:off x="548640" y="4983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February looked like a dip because it has 28 days. Per day, volume is identical and value is slightly higher.</a:t>
            </a:r>
            <a:endParaRPr lang="en-US" sz="1600" dirty="0"/>
          </a:p>
        </p:txBody>
      </p:sp>
      <p:sp>
        <p:nvSpPr>
          <p:cNvPr id="7" name="Correction 1"/>
          <p:cNvSpPr txBox="1"/>
          <p:nvPr/>
        </p:nvSpPr>
        <p:spPr>
          <a:xfrm>
            <a:off x="7406640" y="15087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strike="sngStrike" dirty="0">
                <a:solidFill>
                  <a:schemeClr val="accent3"/>
                </a:solidFill>
              </a:rPr>
              <a:t>February dip</a:t>
            </a:r>
            <a:endParaRPr lang="en-US" sz="16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→ just a shorter month</a:t>
            </a:r>
            <a:endParaRPr lang="en-US" sz="1600" dirty="0"/>
          </a:p>
        </p:txBody>
      </p:sp>
      <p:sp>
        <p:nvSpPr>
          <p:cNvPr id="8" name="Correction 2"/>
          <p:cNvSpPr txBox="1"/>
          <p:nvPr/>
        </p:nvSpPr>
        <p:spPr>
          <a:xfrm>
            <a:off x="7406640" y="239572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strike="sngStrike" dirty="0">
                <a:solidFill>
                  <a:schemeClr val="accent3"/>
                </a:solidFill>
              </a:rPr>
              <a:t>USSD has the highest average</a:t>
            </a:r>
            <a:endParaRPr lang="en-US" sz="16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→ no real difference between channels</a:t>
            </a:r>
            <a:endParaRPr lang="en-US" sz="1600" dirty="0"/>
          </a:p>
        </p:txBody>
      </p:sp>
      <p:sp>
        <p:nvSpPr>
          <p:cNvPr id="9" name="Correction 3"/>
          <p:cNvSpPr txBox="1"/>
          <p:nvPr/>
        </p:nvSpPr>
        <p:spPr>
          <a:xfrm>
            <a:off x="7406640" y="328269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strike="sngStrike" dirty="0">
                <a:solidFill>
                  <a:schemeClr val="accent3"/>
                </a:solidFill>
              </a:rPr>
              <a:t>Web is the worst channel</a:t>
            </a:r>
            <a:endParaRPr lang="en-US" sz="16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→ within normal random variation</a:t>
            </a:r>
            <a:endParaRPr lang="en-US" sz="1600" dirty="0"/>
          </a:p>
        </p:txBody>
      </p:sp>
      <p:sp>
        <p:nvSpPr>
          <p:cNvPr id="10" name="Correction 4"/>
          <p:cNvSpPr txBox="1"/>
          <p:nvPr/>
        </p:nvSpPr>
        <p:spPr>
          <a:xfrm>
            <a:off x="7406640" y="416966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strike="sngStrike" dirty="0">
                <a:solidFill>
                  <a:schemeClr val="accent3"/>
                </a:solidFill>
              </a:rPr>
              <a:t>Premium and Student are riskier</a:t>
            </a:r>
            <a:endParaRPr lang="en-US" sz="16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→ no difference between segments</a:t>
            </a:r>
            <a:endParaRPr lang="en-US" sz="1600" dirty="0"/>
          </a:p>
        </p:txBody>
      </p:sp>
      <p:sp>
        <p:nvSpPr>
          <p:cNvPr id="11" name="Correction 5"/>
          <p:cNvSpPr txBox="1"/>
          <p:nvPr/>
        </p:nvSpPr>
        <p:spPr>
          <a:xfrm>
            <a:off x="7406640" y="505663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strike="sngStrike" dirty="0">
                <a:solidFill>
                  <a:schemeClr val="accent3"/>
                </a:solidFill>
              </a:rPr>
              <a:t>Three percentages I had worked out wrong</a:t>
            </a:r>
            <a:endParaRPr lang="en-US" sz="16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→ fixed, and logged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F6F3142D-6E43-6B2E-7512-F588278D15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325000" t="-160938" r="-325000" b="-160938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859"/>
    </mc:Choice>
    <mc:Fallback>
      <p:transition spd="slow" advTm="738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 changed because of it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0350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Change 1"/>
          <p:cNvSpPr txBox="1"/>
          <p:nvPr/>
        </p:nvSpPr>
        <p:spPr>
          <a:xfrm>
            <a:off x="7040880" y="15544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Added </a:t>
            </a:r>
            <a:r>
              <a:rPr lang="en-US" sz="1800" dirty="0">
                <a:solidFill>
                  <a:schemeClr val="tx1"/>
                </a:solidFill>
              </a:rPr>
              <a:t>an average-daily-value card, so months compare fairly</a:t>
            </a:r>
            <a:endParaRPr lang="en-US" sz="2000" dirty="0"/>
          </a:p>
        </p:txBody>
      </p:sp>
      <p:sp>
        <p:nvSpPr>
          <p:cNvPr id="6" name="Change 2"/>
          <p:cNvSpPr txBox="1"/>
          <p:nvPr/>
        </p:nvSpPr>
        <p:spPr>
          <a:xfrm>
            <a:off x="7040880" y="2651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Added </a:t>
            </a:r>
            <a:r>
              <a:rPr lang="en-US" sz="1800" dirty="0">
                <a:solidFill>
                  <a:schemeClr val="tx1"/>
                </a:solidFill>
              </a:rPr>
              <a:t>a risk-by-transaction-type chart, the strongest finding</a:t>
            </a:r>
            <a:endParaRPr lang="en-US" sz="2000" dirty="0"/>
          </a:p>
        </p:txBody>
      </p:sp>
      <p:sp>
        <p:nvSpPr>
          <p:cNvPr id="7" name="Change 3"/>
          <p:cNvSpPr txBox="1"/>
          <p:nvPr/>
        </p:nvSpPr>
        <p:spPr>
          <a:xfrm>
            <a:off x="7040880" y="3749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Split </a:t>
            </a:r>
            <a:r>
              <a:rPr lang="en-US" sz="1800" dirty="0">
                <a:solidFill>
                  <a:schemeClr val="tx1"/>
                </a:solidFill>
              </a:rPr>
              <a:t>“where customers live” from “where transactions happen”</a:t>
            </a:r>
            <a:endParaRPr lang="en-US" sz="2000" dirty="0"/>
          </a:p>
        </p:txBody>
      </p:sp>
      <p:sp>
        <p:nvSpPr>
          <p:cNvPr id="8" name="Change 4"/>
          <p:cNvSpPr txBox="1"/>
          <p:nvPr/>
        </p:nvSpPr>
        <p:spPr>
          <a:xfrm>
            <a:off x="7040880" y="4846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Rewrote </a:t>
            </a:r>
            <a:r>
              <a:rPr lang="en-US" sz="1800" dirty="0">
                <a:solidFill>
                  <a:schemeClr val="tx1"/>
                </a:solidFill>
              </a:rPr>
              <a:t>my recommendations to match the evidence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20FBA027-9280-D0E2-5C1C-80590B49E8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5000" t="-160938" r="-325000" b="-160938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465"/>
    </mc:Choice>
    <mc:Fallback>
      <p:transition spd="slow" advTm="404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How this fits the wider project</a:t>
            </a:r>
            <a:endParaRPr lang="en-US" sz="3400" dirty="0"/>
          </a:p>
        </p:txBody>
      </p:sp>
      <p:sp>
        <p:nvSpPr>
          <p:cNvPr id="4" name="Provided card"/>
          <p:cNvSpPr/>
          <p:nvPr/>
        </p:nvSpPr>
        <p:spPr>
          <a:xfrm>
            <a:off x="548640" y="155448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Provided heading"/>
          <p:cNvSpPr txBox="1"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I’m handing over</a:t>
            </a:r>
            <a:endParaRPr lang="en-US" sz="2200" dirty="0"/>
          </a:p>
        </p:txBody>
      </p:sp>
      <p:sp>
        <p:nvSpPr>
          <p:cNvPr id="6" name="Provided list"/>
          <p:cNvSpPr txBox="1"/>
          <p:nvPr/>
        </p:nvSpPr>
        <p:spPr>
          <a:xfrm>
            <a:off x="822960" y="2286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Cleaned data and a quality log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Ten KPI definitions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Validated findings and recommendations</a:t>
            </a:r>
            <a:endParaRPr lang="en-US" sz="1700" dirty="0"/>
          </a:p>
        </p:txBody>
      </p:sp>
      <p:sp>
        <p:nvSpPr>
          <p:cNvPr id="7" name="Not claimed card"/>
          <p:cNvSpPr/>
          <p:nvPr/>
        </p:nvSpPr>
        <p:spPr>
          <a:xfrm>
            <a:off x="6217920" y="155448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8" name="Not claimed heading"/>
          <p:cNvSpPr txBox="1"/>
          <p:nvPr/>
        </p:nvSpPr>
        <p:spPr>
          <a:xfrm>
            <a:off x="649224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I’m not claiming</a:t>
            </a:r>
            <a:endParaRPr lang="en-US" sz="2200" dirty="0"/>
          </a:p>
        </p:txBody>
      </p:sp>
      <p:sp>
        <p:nvSpPr>
          <p:cNvPr id="9" name="Not claimed text"/>
          <p:cNvSpPr txBox="1"/>
          <p:nvPr/>
        </p:nvSpPr>
        <p:spPr>
          <a:xfrm>
            <a:off x="6492240" y="2286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I didn’t receive or use another track’s work, so I’m not claiming integration with it.</a:t>
            </a:r>
            <a:endParaRPr lang="en-US" sz="1700" dirty="0"/>
          </a:p>
        </p:txBody>
      </p:sp>
      <p:sp>
        <p:nvSpPr>
          <p:cNvPr id="10" name="Hint heading"/>
          <p:cNvSpPr txBox="1"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hint for a future risk model</a:t>
            </a:r>
            <a:endParaRPr lang="en-US" sz="2000" dirty="0"/>
          </a:p>
        </p:txBody>
      </p:sp>
      <p:sp>
        <p:nvSpPr>
          <p:cNvPr id="11" name="Related fields"/>
          <p:cNvSpPr txBox="1"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Related to the flag:  </a:t>
            </a:r>
            <a:r>
              <a:rPr lang="en-US" sz="1800" dirty="0">
                <a:solidFill>
                  <a:schemeClr val="tx1"/>
                </a:solidFill>
              </a:rPr>
              <a:t>transaction type, international status, large amounts</a:t>
            </a:r>
            <a:endParaRPr lang="en-US" sz="1800" dirty="0"/>
          </a:p>
        </p:txBody>
      </p:sp>
      <p:sp>
        <p:nvSpPr>
          <p:cNvPr id="12" name="Unrelated fields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Not related:  </a:t>
            </a:r>
            <a:r>
              <a:rPr lang="en-US" sz="1800" dirty="0">
                <a:solidFill>
                  <a:schemeClr val="tx1"/>
                </a:solidFill>
              </a:rPr>
              <a:t>customer segment, city, device, account status, gender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0738B961-5AD5-8B16-993A-ABEDD6732C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5000" t="-160938" r="-325000" b="-160938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408"/>
    </mc:Choice>
    <mc:Fallback>
      <p:transition spd="slow" advTm="324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this can’t tell you</a:t>
            </a:r>
            <a:endParaRPr lang="en-US" sz="3400" dirty="0"/>
          </a:p>
        </p:txBody>
      </p:sp>
      <p:sp>
        <p:nvSpPr>
          <p:cNvPr id="4" name="Limit tag 1"/>
          <p:cNvSpPr/>
          <p:nvPr/>
        </p:nvSpPr>
        <p:spPr>
          <a:xfrm>
            <a:off x="548640" y="1600200"/>
            <a:ext cx="329184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5" name="Limit keyword 1"/>
          <p:cNvSpPr txBox="1"/>
          <p:nvPr/>
        </p:nvSpPr>
        <p:spPr>
          <a:xfrm>
            <a:off x="777240" y="1600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</a:t>
            </a:r>
            <a:endParaRPr lang="en-US" sz="2600" dirty="0"/>
          </a:p>
        </p:txBody>
      </p:sp>
      <p:sp>
        <p:nvSpPr>
          <p:cNvPr id="6" name="Limit detail 1"/>
          <p:cNvSpPr txBox="1"/>
          <p:nvPr/>
        </p:nvSpPr>
        <p:spPr>
          <a:xfrm>
            <a:off x="4206240" y="160020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The data is fake and unusually even over time, so I can say nothing real about seasons or time of day.</a:t>
            </a:r>
            <a:endParaRPr lang="en-US" sz="1900" dirty="0"/>
          </a:p>
        </p:txBody>
      </p:sp>
      <p:sp>
        <p:nvSpPr>
          <p:cNvPr id="7" name="Limit tag 2"/>
          <p:cNvSpPr/>
          <p:nvPr/>
        </p:nvSpPr>
        <p:spPr>
          <a:xfrm>
            <a:off x="548640" y="3108960"/>
            <a:ext cx="3291840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</p:sp>
      <p:sp>
        <p:nvSpPr>
          <p:cNvPr id="8" name="Limit keyword 2"/>
          <p:cNvSpPr txBox="1"/>
          <p:nvPr/>
        </p:nvSpPr>
        <p:spPr>
          <a:xfrm>
            <a:off x="777240" y="31089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Associations</a:t>
            </a:r>
            <a:endParaRPr lang="en-US" sz="2600" dirty="0"/>
          </a:p>
        </p:txBody>
      </p:sp>
      <p:sp>
        <p:nvSpPr>
          <p:cNvPr id="9" name="Limit detail 2"/>
          <p:cNvSpPr txBox="1"/>
          <p:nvPr/>
        </p:nvSpPr>
        <p:spPr>
          <a:xfrm>
            <a:off x="4206240" y="310896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These are patterns, not proof of causes. The risk flag is a training label, not fraud.</a:t>
            </a:r>
            <a:endParaRPr lang="en-US" sz="1900" dirty="0"/>
          </a:p>
        </p:txBody>
      </p:sp>
      <p:sp>
        <p:nvSpPr>
          <p:cNvPr id="10" name="Limit tag 3"/>
          <p:cNvSpPr/>
          <p:nvPr/>
        </p:nvSpPr>
        <p:spPr>
          <a:xfrm>
            <a:off x="548640" y="4617720"/>
            <a:ext cx="3291840" cy="1280160"/>
          </a:xfrm>
          <a:prstGeom prst="roundRect">
            <a:avLst>
              <a:gd name="adj" fmla="val 8571"/>
            </a:avLst>
          </a:prstGeom>
          <a:solidFill>
            <a:schemeClr val="accent6"/>
          </a:solidFill>
          <a:ln/>
        </p:spPr>
      </p:sp>
      <p:sp>
        <p:nvSpPr>
          <p:cNvPr id="11" name="Limit keyword 3"/>
          <p:cNvSpPr txBox="1"/>
          <p:nvPr/>
        </p:nvSpPr>
        <p:spPr>
          <a:xfrm>
            <a:off x="777240" y="46177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“why”</a:t>
            </a:r>
            <a:endParaRPr lang="en-US" sz="2600" dirty="0"/>
          </a:p>
        </p:txBody>
      </p:sp>
      <p:sp>
        <p:nvSpPr>
          <p:cNvPr id="12" name="Limit detail 3"/>
          <p:cNvSpPr txBox="1"/>
          <p:nvPr/>
        </p:nvSpPr>
        <p:spPr>
          <a:xfrm>
            <a:off x="4206240" y="461772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I can show how often transactions fail, but not why. There is no failure-reason field.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F47AF51B-53CA-E5B5-A5FA-EB352398E1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5000" t="-160938" r="-325000" b="-160938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519"/>
    </mc:Choice>
    <mc:Fallback>
      <p:transition spd="slow" advTm="205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7315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Three things I’m taking away</a:t>
            </a:r>
            <a:endParaRPr lang="en-US" sz="4400" dirty="0"/>
          </a:p>
        </p:txBody>
      </p:sp>
      <p:sp>
        <p:nvSpPr>
          <p:cNvPr id="4" name="Lesson number 1"/>
          <p:cNvSpPr txBox="1"/>
          <p:nvPr/>
        </p:nvSpPr>
        <p:spPr>
          <a:xfrm>
            <a:off x="731520" y="21488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000" dirty="0"/>
          </a:p>
        </p:txBody>
      </p:sp>
      <p:sp>
        <p:nvSpPr>
          <p:cNvPr id="5" name="Lesson 1"/>
          <p:cNvSpPr txBox="1"/>
          <p:nvPr/>
        </p:nvSpPr>
        <p:spPr>
          <a:xfrm>
            <a:off x="1645920" y="22402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A good-looking chart is a question, not an answer, until you try to break it.</a:t>
            </a:r>
            <a:endParaRPr lang="en-US" sz="2200" dirty="0"/>
          </a:p>
        </p:txBody>
      </p:sp>
      <p:sp>
        <p:nvSpPr>
          <p:cNvPr id="6" name="Lesson number 2"/>
          <p:cNvSpPr txBox="1"/>
          <p:nvPr/>
        </p:nvSpPr>
        <p:spPr>
          <a:xfrm>
            <a:off x="731520" y="32461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000" dirty="0"/>
          </a:p>
        </p:txBody>
      </p:sp>
      <p:sp>
        <p:nvSpPr>
          <p:cNvPr id="7" name="Lesson 2"/>
          <p:cNvSpPr txBox="1"/>
          <p:nvPr/>
        </p:nvSpPr>
        <p:spPr>
          <a:xfrm>
            <a:off x="1645920" y="33375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Compare fairly: per day, not raw monthly totals.</a:t>
            </a:r>
            <a:endParaRPr lang="en-US" sz="2200" dirty="0"/>
          </a:p>
        </p:txBody>
      </p:sp>
      <p:sp>
        <p:nvSpPr>
          <p:cNvPr id="8" name="Lesson number 3"/>
          <p:cNvSpPr txBox="1"/>
          <p:nvPr/>
        </p:nvSpPr>
        <p:spPr>
          <a:xfrm>
            <a:off x="731520" y="43434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000" dirty="0"/>
          </a:p>
        </p:txBody>
      </p:sp>
      <p:sp>
        <p:nvSpPr>
          <p:cNvPr id="9" name="Lesson 3"/>
          <p:cNvSpPr txBox="1"/>
          <p:nvPr/>
        </p:nvSpPr>
        <p:spPr>
          <a:xfrm>
            <a:off x="1645920" y="4434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Never type a number by hand. Get it from the query.</a:t>
            </a:r>
            <a:endParaRPr lang="en-US" sz="2200" dirty="0"/>
          </a:p>
        </p:txBody>
      </p:sp>
      <p:sp>
        <p:nvSpPr>
          <p:cNvPr id="11" name="Thanks line"/>
          <p:cNvSpPr txBox="1"/>
          <p:nvPr/>
        </p:nvSpPr>
        <p:spPr>
          <a:xfrm>
            <a:off x="73152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With thanks to AnalystLab Africa for the project.</a:t>
            </a:r>
            <a:endParaRPr lang="en-US" sz="1200" dirty="0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B8BEC02B-E77D-CEAA-B0A2-A2B5420FB7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5000" t="-160938" r="-325000" b="-160938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339"/>
    </mc:Choice>
    <mc:Fallback>
      <p:transition spd="slow" advTm="263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FinTrust Final">
  <a:themeElements>
    <a:clrScheme name="FinTrust Final">
      <a:dk1>
        <a:srgbClr val="12262B"/>
      </a:dk1>
      <a:lt1>
        <a:srgbClr val="FFFFFF"/>
      </a:lt1>
      <a:dk2>
        <a:srgbClr val="0E3B43"/>
      </a:dk2>
      <a:lt2>
        <a:srgbClr val="EDF3F3"/>
      </a:lt2>
      <a:accent1>
        <a:srgbClr val="0B7A8A"/>
      </a:accent1>
      <a:accent2>
        <a:srgbClr val="E4572E"/>
      </a:accent2>
      <a:accent3>
        <a:srgbClr val="7A8C93"/>
      </a:accent3>
      <a:accent4>
        <a:srgbClr val="F2A541"/>
      </a:accent4>
      <a:accent5>
        <a:srgbClr val="2F9E8F"/>
      </a:accent5>
      <a:accent6>
        <a:srgbClr val="4A5D66"/>
      </a:accent6>
      <a:hlink>
        <a:srgbClr val="0B7A8A"/>
      </a:hlink>
      <a:folHlink>
        <a:srgbClr val="7A8C93"/>
      </a:folHlink>
    </a:clrScheme>
    <a:fontScheme name="FinTrust Fi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1385</Words>
  <Application>Microsoft Office PowerPoint</Application>
  <PresentationFormat>Widescreen</PresentationFormat>
  <Paragraphs>136</Paragraphs>
  <Slides>12</Slides>
  <Notes>12</Notes>
  <HiddenSlides>0</HiddenSlides>
  <MMClips>12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FinTrust Final</vt:lpstr>
      <vt:lpstr>What I learned from testing my own analysis</vt:lpstr>
      <vt:lpstr>The problem: lots of data, no clear picture</vt:lpstr>
      <vt:lpstr>What I actually did</vt:lpstr>
      <vt:lpstr>The dashboard </vt:lpstr>
      <vt:lpstr>Where risk review concentrates</vt:lpstr>
      <vt:lpstr>Ten percent of transactions, over half the money</vt:lpstr>
      <vt:lpstr>Then I tested my own findings</vt:lpstr>
      <vt:lpstr>What I got wrong</vt:lpstr>
      <vt:lpstr>What I changed because of it</vt:lpstr>
      <vt:lpstr>How this fits the wider project</vt:lpstr>
      <vt:lpstr>What this can’t tell you</vt:lpstr>
      <vt:lpstr>Three things I’m taking away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FinTrust Final Presentation - Data Analytics</dc:title>
  <dc:subject>PptxGenJS Presentation</dc:subject>
  <dc:creator>[Your name]</dc:creator>
  <cp:lastModifiedBy>Lenovo</cp:lastModifiedBy>
  <cp:revision>2</cp:revision>
  <dcterms:created xsi:type="dcterms:W3CDTF">2026-10-09T21:08:29Z</dcterms:created>
  <dcterms:modified xsi:type="dcterms:W3CDTF">2026-10-11T17:23:00Z</dcterms:modified>
</cp:coreProperties>
</file>